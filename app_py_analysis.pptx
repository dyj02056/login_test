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CADCFC"/>
                </a:solidFill>
                <a:latin typeface="맑은 고딕"/>
              </a:rPr>
              <a:t>코드 분석 리포트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974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맑은 고딕"/>
              </a:rPr>
              <a:t>app.py 완전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맑은 고딕"/>
              </a:rPr>
              <a:t>Flask로 만든 로그인 · 회원가입 웹사이트 서버 코드 해설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5760720" cy="155448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@app.route("/login")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def login():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...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session["user_id"] = user["id"]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9AA5C7"/>
                </a:solidFill>
                <a:latin typeface="맑은 고딕"/>
              </a:rPr>
              <a:t>login_test 프로젝트  ·  Python / Flask /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전체 그림 먼저 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E222E"/>
                </a:solidFill>
                <a:latin typeface="맑은 고딕"/>
              </a:rPr>
              <a:t>웹사이트는 두 부분으로 나뉩니다.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28600"/>
          <a:lstStyle/>
          <a:p>
            <a:pPr algn="l"/>
            <a:r>
              <a:rPr b="1" sz="1800">
                <a:solidFill>
                  <a:srgbClr val="1E2761"/>
                </a:solidFill>
                <a:latin typeface="맑은 고딕"/>
              </a:rPr>
              <a:t>서버 (백엔드)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500">
                <a:solidFill>
                  <a:srgbClr val="1E222E"/>
                </a:solidFill>
                <a:latin typeface="맑은 고딕"/>
              </a:rPr>
              <a:t>app.py
요청을 처리하고 데이터베이스에
저장 · 조회하는 역할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860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28600"/>
          <a:lstStyle/>
          <a:p>
            <a:pPr algn="l"/>
            <a:r>
              <a:rPr b="1" sz="1800">
                <a:solidFill>
                  <a:srgbClr val="1E2761"/>
                </a:solidFill>
                <a:latin typeface="맑은 고딕"/>
              </a:rPr>
              <a:t>화면 (프론트엔드)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sz="1500">
                <a:solidFill>
                  <a:srgbClr val="1E222E"/>
                </a:solidFill>
                <a:latin typeface="맑은 고딕"/>
              </a:rPr>
              <a:t>templates/*.html
사용자 눈에 실제로 보이는
HTML 페이지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1E222E"/>
                </a:solidFill>
                <a:latin typeface="맑은 고딕"/>
              </a:rPr>
              <a:t>app.py는 "누가 /login 주소로 접속하면 로그인 화면을 보여주고,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1E222E"/>
                </a:solidFill>
                <a:latin typeface="맑은 고딕"/>
              </a:rPr>
              <a:t>로그인 버튼을 누르면 아이디 · 비밀번호를 확인해서 맞으면 들여보내준다"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1E222E"/>
                </a:solidFill>
                <a:latin typeface="맑은 고딕"/>
              </a:rPr>
              <a:t>같은 규칙들의 모음입니다.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1–11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준비 단계 — 도구 가져오기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402336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import sqlite3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from pathlib import Path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from flask import Flask, g, redirect,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   render_template, request, session, url_for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from werkzeug.security import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   check_password_hash, generate_password_hash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BASE_DIR = Path(__file__).resolve().parent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DB_PATH = BASE_DIR / "users.db"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app = Flask(__name__)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app.config["SECRET_KEY"] = "dev-secret-key-change-me"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82880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import 줄들은 "이 도구들을 가져다 쓰겠다"는 선언</a:t>
            </a:r>
          </a:p>
          <a:p>
            <a:pPr algn="l"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sqlite3 — 회원 정보를 파일(users.db) 하나에 저장하는 미니 데이터베이스</a:t>
            </a:r>
          </a:p>
          <a:p>
            <a:pPr algn="l"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werkzeug.security — 비밀번호를 안전하게 암호화(해싱)해주는 도구</a:t>
            </a:r>
          </a:p>
          <a:p>
            <a:pPr algn="l"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BASE_DIR — app.py가 있는 폴더 경로. 폴더를 어디로 옮겨도 항상 같은 위치에 users.db 생성</a:t>
            </a:r>
          </a:p>
          <a:p>
            <a:pPr algn="l"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app = Flask(__name__) — 웹서버 앱 생성. 이제부터 규칙을 하나씩 추가</a:t>
            </a:r>
          </a:p>
          <a:p>
            <a:pPr algn="l" marL="228600" indent="-228600">
              <a:lnSpc>
                <a:spcPct val="115000"/>
              </a:lnSpc>
              <a:spcAft>
                <a:spcPts val="13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SECRET_KEY — 로그인 상태(세션)를 암호화하는 비밀 값. 실제 서비스라면 반드시 교체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14–25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데이터베이스 연결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329184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def get_db():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if "db" not in g: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    g.db = sqlite3.connect(DB_PATH)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    g.db.row_factory = sqlite3.Row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return g.db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@app.teardown_appcontext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def close_db(exception=None):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db = g.pop("db", None)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if db is not None: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E3E8F5"/>
                </a:solidFill>
                <a:latin typeface="Consolas"/>
              </a:rPr>
              <a:t>        db.close()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82880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get_db() — 데이터베이스(users.db)에 접속하는 함수</a:t>
            </a:r>
          </a:p>
          <a:p>
            <a:pPr algn="l"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g는 "요청 하나가 처리되는 동안만" 유지되는 임시 저장소. 접속을 매번 새로 하지 않고 재사용</a:t>
            </a:r>
          </a:p>
          <a:p>
            <a:pPr algn="l"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row_factory 설정 → 조회 결과를 user["username"]처럼 이름으로 꺼낼 수 있게 함</a:t>
            </a:r>
          </a:p>
          <a:p>
            <a:pPr algn="l" marL="228600" indent="-228600">
              <a:lnSpc>
                <a:spcPct val="115000"/>
              </a:lnSpc>
              <a:spcAft>
                <a:spcPts val="1400"/>
              </a:spcAft>
              <a:buFont typeface="Arial"/>
              <a:buChar char="▸"/>
            </a:pPr>
            <a:r>
              <a:rPr sz="1450">
                <a:solidFill>
                  <a:srgbClr val="1E222E"/>
                </a:solidFill>
                <a:latin typeface="맑은 고딕"/>
              </a:rPr>
              <a:t>close_db() — 요청 처리가 끝나면 자동으로 연결을 닫아주는 뒷정리 함수 (teardown_appcontext)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28–41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데이터베이스 표(테이블) 만들기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283464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def init_db():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db = sqlite3.connect(DB_PATH)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db.execute("""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CREATE TABLE IF NOT EXISTS users (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    id INTEGER PRIMARY KEY AUTOINCREMENT,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    username TEXT UNIQUE NOT NULL,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    password_hash TEXT NOT NULL,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    created_at TEXT DEFAULT CURRENT_TIMESTAMP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)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""")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db.commit()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db.close()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92240" y="1828800"/>
          <a:ext cx="51206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</a:tblGrid>
              <a:tr h="420624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컬럼명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맑은 고딕"/>
                        </a:rPr>
                        <a:t>의미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Consolas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맑은 고딕"/>
                        </a:rPr>
                        <a:t>자동으로 매겨지는 고유 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Consolas"/>
                        </a:rPr>
                        <a:t>username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맑은 고딕"/>
                        </a:rPr>
                        <a:t>아이디 (UNIQUE=중복 불가)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Consolas"/>
                        </a:rPr>
                        <a:t>password_hash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맑은 고딕"/>
                        </a:rPr>
                        <a:t>암호화된 비밀번호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Consolas"/>
                        </a:rPr>
                        <a:t>created_at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E222E"/>
                          </a:solidFill>
                          <a:latin typeface="맑은 고딕"/>
                        </a:rPr>
                        <a:t>가입 시각 (자동 기록)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92240" y="4160520"/>
            <a:ext cx="5120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E222E"/>
                </a:solidFill>
                <a:latin typeface="맑은 고딕"/>
              </a:rPr>
              <a:t>엑셀 시트를 하나 만든다고 생각하면 쉽습니다.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E222E"/>
                </a:solidFill>
                <a:latin typeface="맑은 고딕"/>
              </a:rPr>
              <a:t>CREATE TABLE IF NOT EXISTS라서 이미 표가 있으면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E222E"/>
                </a:solidFill>
                <a:latin typeface="맑은 고딕"/>
              </a:rPr>
              <a:t>다시 만들지 않고 넘어갑니다.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E222E"/>
                </a:solidFill>
                <a:latin typeface="맑은 고딕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E222E"/>
                </a:solidFill>
                <a:latin typeface="맑은 고딕"/>
              </a:rPr>
              <a:t>★ 비밀번호를 그대로 저장하지 않는 것이 핵심 보안 포인트!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44–48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첫 화면( / ) 규칙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E3E8F5"/>
                </a:solidFill>
                <a:latin typeface="Consolas"/>
              </a:rPr>
              <a:t>@app.route("/")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3E8F5"/>
                </a:solidFill>
                <a:latin typeface="Consolas"/>
              </a:rPr>
              <a:t>def index():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3E8F5"/>
                </a:solidFill>
                <a:latin typeface="Consolas"/>
              </a:rPr>
              <a:t>    if session.get("user_id"):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3E8F5"/>
                </a:solidFill>
                <a:latin typeface="Consolas"/>
              </a:rPr>
              <a:t>        return redirect(url_for("dashboard"))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E3E8F5"/>
                </a:solidFill>
                <a:latin typeface="Consolas"/>
              </a:rPr>
              <a:t>    return redirect(url_for("login"))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82880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@app.route("/") 같은 @으로 시작하는 줄을 데코레이터라고 함 → "이 주소로 요청이 오면 아래 함수를 실행해줘"라는 뜻</a:t>
            </a:r>
          </a:p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session — 로그인 여부를 브라우저 쿠키에 안전하게 저장해두는 곳</a:t>
            </a:r>
          </a:p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로그인한 사람 → /dashboard로, 아니면 → /login으로 자동 이동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51–83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회원가입 (/signup)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760720" cy="406908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@app.route("/signup", methods=["GET", "POST"])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def signup():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if request.method == "POST":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username = request.form.get("username")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...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# 검증: 길이 / 일치 / 중복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db.execute(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  "INSERT INTO users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   (username, password_hash) VALUES (?, ?)",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  (username, generate_password_hash(password)),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)</a:t>
            </a:r>
          </a:p>
          <a:p>
            <a:pPr algn="l">
              <a:lnSpc>
                <a:spcPct val="125000"/>
              </a:lnSpc>
            </a:pPr>
            <a:r>
              <a:rPr sz="1250">
                <a:solidFill>
                  <a:srgbClr val="E3E8F5"/>
                </a:solidFill>
                <a:latin typeface="Consolas"/>
              </a:rPr>
              <a:t>        return redirect(url_for("login", signup="success"))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828800"/>
            <a:ext cx="50749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GET = 폼 화면 보기 / POST = 제출 버튼 누르기</a:t>
            </a:r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검증 순서: 아이디 3자↑ → 비밀번호 6자↑ → 비밀번호 확인 일치 → 아이디 중복 확인</a:t>
            </a:r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generate_password_hash() — 비밀번호를 되돌릴 수 없는 암호문으로 변환해 저장</a:t>
            </a:r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VALUES (?, ?) — 물음표로 값을 안전하게 전달. SQL 인젝션 해킹을 막는 방법</a:t>
            </a:r>
          </a:p>
          <a:p>
            <a:pPr algn="l" marL="228600" indent="-228600">
              <a:lnSpc>
                <a:spcPct val="115000"/>
              </a:lnSpc>
              <a:spcAft>
                <a:spcPts val="11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가입 성공 → 로그인 페이지로 이동 + "가입 완료" 메시지 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86–110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로그인 (/login)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760720" cy="36576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user = db.execute(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 "SELECT * FROM users WHERE username = ?",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 (username,)).fetchone()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if user is None or not check_password_hash(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       user["password_hash"], password):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   return render_template("login.html",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       error="아이디 또는 비밀번호가 올바르지 않습니다.")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session.clear()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session["user_id"] = user["id"]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session["username"] = user["username"]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E3E8F5"/>
                </a:solidFill>
                <a:latin typeface="Consolas"/>
              </a:rPr>
              <a:t>return redirect(url_for("dashboard"))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828800"/>
            <a:ext cx="50749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입력한 아이디로 DB에서 사용자를 조회</a:t>
            </a:r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check_password_hash() — 입력한 비밀번호를 같은 방식으로 암호화해 저장된 값과 비교 (복호화는 하지 않음)</a:t>
            </a:r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아이디가 없거나 비밀번호가 틀려도 일부러 똑같은 오류 메시지 → 공격자가 아이디 존재 여부를 알아내지 못하게 방지</a:t>
            </a:r>
          </a:p>
          <a:p>
            <a:pPr algn="l" marL="228600" indent="-228600">
              <a:lnSpc>
                <a:spcPct val="115000"/>
              </a:lnSpc>
              <a:spcAft>
                <a:spcPts val="1200"/>
              </a:spcAft>
              <a:buFont typeface="Arial"/>
              <a:buChar char="▸"/>
            </a:pPr>
            <a:r>
              <a:rPr sz="1350">
                <a:solidFill>
                  <a:srgbClr val="1E222E"/>
                </a:solidFill>
                <a:latin typeface="맑은 고딕"/>
              </a:rPr>
              <a:t>로그인 성공 시 session에 user_id, username 저장 → 이후 브라우저가 이 쿠키로 "로그인함"을 증명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113–123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로그아웃 &amp; 대시보드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265176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@app.route("/logout")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def logout():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    session.clear()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    return redirect(url_for("login"))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 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@app.route("/dashboard")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def dashboard():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    if not session.get("user_id"):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        return redirect(url_for("login"))</a:t>
            </a:r>
          </a:p>
          <a:p>
            <a:pPr algn="l">
              <a:lnSpc>
                <a:spcPct val="125000"/>
              </a:lnSpc>
            </a:pPr>
            <a:r>
              <a:rPr sz="1350">
                <a:solidFill>
                  <a:srgbClr val="E3E8F5"/>
                </a:solidFill>
                <a:latin typeface="Consolas"/>
              </a:rPr>
              <a:t>    return render_template("dashboard.html", 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82880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/logout — 세션(로그인 정보)을 전부 지우고 로그인 페이지로 이동</a:t>
            </a:r>
          </a:p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/dashboard는 보호된 페이지 — 세션에 user_id가 없으면(=로그인 안 했으면) 강제로 로그인 페이지로 쫓아냄</a:t>
            </a:r>
          </a:p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로그인 상태라면 환영 메시지 화면을 보여줌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LINE 126–128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E2761"/>
                </a:solidFill>
                <a:latin typeface="맑은 고딕"/>
              </a:rPr>
              <a:t>실행부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669280" cy="1371600"/>
          </a:xfrm>
          <a:prstGeom prst="roundRect">
            <a:avLst>
              <a:gd name="adj" fmla="val 4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182880" tIns="201168" bIns="182880"/>
          <a:lstStyle/>
          <a:p>
            <a:pPr algn="l">
              <a:lnSpc>
                <a:spcPct val="125000"/>
              </a:lnSpc>
            </a:pPr>
            <a:r>
              <a:rPr sz="1600">
                <a:solidFill>
                  <a:srgbClr val="E3E8F5"/>
                </a:solidFill>
                <a:latin typeface="Consolas"/>
              </a:rPr>
              <a:t>if __name__ == "__main__":</a:t>
            </a: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E3E8F5"/>
                </a:solidFill>
                <a:latin typeface="Consolas"/>
              </a:rPr>
              <a:t>    init_db()</a:t>
            </a: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E3E8F5"/>
                </a:solidFill>
                <a:latin typeface="Consolas"/>
              </a:rPr>
              <a:t>    app.run(debug=True)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82880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python app.py로 이 파일을 직접 실행했을 때만 동작</a:t>
            </a:r>
          </a:p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init_db() — 테이블이 없으면 생성</a:t>
            </a:r>
          </a:p>
          <a:p>
            <a:pPr algn="l" marL="228600" indent="-228600">
              <a:lnSpc>
                <a:spcPct val="115000"/>
              </a:lnSpc>
              <a:spcAft>
                <a:spcPts val="1600"/>
              </a:spcAft>
              <a:buFont typeface="Arial"/>
              <a:buChar char="▸"/>
            </a:pPr>
            <a:r>
              <a:rPr sz="1500">
                <a:solidFill>
                  <a:srgbClr val="1E222E"/>
                </a:solidFill>
                <a:latin typeface="맑은 고딕"/>
              </a:rPr>
              <a:t>app.run(debug=True) — 서버 실행. debug=True는 개발 중 자동 반영 + 상세 오류 표시 (실제 배포 시엔 꺼야 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app.py 코드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5B6377"/>
                </a:solidFill>
                <a:latin typeface="맑은 고딕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한 줄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202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2B3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4F7CFF"/>
                </a:solidFill>
                <a:latin typeface="맑은 고딕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맑은 고딕"/>
              </a:rPr>
              <a:t>사용자가 /signup, /login 같은
주소로 접속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561" y="1920240"/>
            <a:ext cx="2286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CADCFC"/>
                </a:solidFill>
                <a:latin typeface="맑은 고딕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9202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2B3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4F7CFF"/>
                </a:solidFill>
                <a:latin typeface="맑은 고딕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맑은 고딕"/>
              </a:rPr>
              <a:t>해당 함수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1" y="1920240"/>
            <a:ext cx="2286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CADCFC"/>
                </a:solidFill>
                <a:latin typeface="맑은 고딕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2B3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4F7CFF"/>
                </a:solidFill>
                <a:latin typeface="맑은 고딕"/>
              </a:rPr>
              <a:t>3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맑은 고딕"/>
              </a:rPr>
              <a:t>필요하면 users.db
조회 ·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1" y="1920240"/>
            <a:ext cx="2286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solidFill>
                  <a:srgbClr val="CADCFC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9202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2B3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4F7CFF"/>
                </a:solidFill>
                <a:latin typeface="맑은 고딕"/>
              </a:rPr>
              <a:t>4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  <a:latin typeface="맑은 고딕"/>
              </a:rPr>
              <a:t>templates/의 HTML로
결과 응답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맑은 고딕"/>
              </a:rPr>
              <a:t>비밀번호는 절대 원문으로 저장하지 않고(해싱),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맑은 고딕"/>
              </a:rPr>
              <a:t>로그인 상태는 session(쿠키)으로 기억합니다.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핵심 보안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978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28600" indent="-228600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>
                <a:solidFill>
                  <a:srgbClr val="CADCFC"/>
                </a:solidFill>
                <a:latin typeface="맑은 고딕"/>
              </a:rPr>
              <a:t>비밀번호 해싱(generate_password_hash) · SQL 인젝션 방지(물음표 파라미터) · 동일한 로그인 오류 메시지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